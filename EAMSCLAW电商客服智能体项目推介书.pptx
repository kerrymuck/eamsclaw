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EAMSCLAW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电商</a:t>
            </a:r>
            <a:r>
              <a:rPr lang="zh-CN" altLang="en-US" sz="36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客服</a:t>
            </a:r>
            <a:r>
              <a:rPr lang="en-US" sz="36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</a:t>
            </a:r>
            <a:r>
              <a:rPr lang="zh-CN" altLang="en-US" sz="36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</a:t>
            </a:r>
            <a:r>
              <a:rPr lang="en-US" sz="36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一站式多平台电商客服解决方案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Totoro Agent Team</a:t>
            </a:r>
            <a:r>
              <a:rPr lang="zh-CN" altLang="en-US" sz="1600" dirty="0"/>
              <a:t>出品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EAMS（E-commerce AI Management System）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是一款面向</a:t>
            </a:r>
            <a:r>
              <a:rPr lang="zh-CN" altLang="en-US" sz="18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多平台</a:t>
            </a:r>
            <a:r>
              <a:rPr lang="en-US" sz="18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电商企业的智能客服管理系统，通过 AI 技术实现多平台店铺的统一管理和智能客服服务。EAMS</a:t>
            </a:r>
            <a:r>
              <a:rPr lang="zh-CN" altLang="en-US" sz="18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客服智能体能够代替人工</a:t>
            </a:r>
            <a:r>
              <a:rPr lang="en-US" altLang="zh-CN" sz="18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70%~80%</a:t>
            </a:r>
            <a:r>
              <a:rPr lang="zh-CN" altLang="en-US" sz="18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的工作内容，为电商企业带来实际的降本增效。</a:t>
            </a:r>
            <a:endParaRPr lang="zh-CN" altLang="en-US" sz="1800" dirty="0">
              <a:solidFill>
                <a:srgbClr val="26323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核心价值主张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一个系统管理 32+ 电商平台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 智能回复，降低 80% 人工成本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跨平台用户识别，统一客户画像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实时消息推送，秒级响应客户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市场痛点</a:t>
            </a:r>
            <a:endParaRPr lang="en-US" sz="32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457200" y="15392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</a:t>
            </a:r>
            <a:endParaRPr lang="en-US" sz="20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914400" y="15392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多平台管理混乱</a:t>
            </a:r>
            <a:endParaRPr lang="en-US" sz="18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3840480" y="15392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商家在 10+ 平台开店，需要登录多个后台，效率低下</a:t>
            </a:r>
            <a:endParaRPr lang="en-US" sz="14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457200" y="213360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</a:t>
            </a:r>
            <a:endParaRPr lang="en-US" sz="20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914400" y="21336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客服成本高</a:t>
            </a:r>
            <a:r>
              <a:rPr lang="zh-CN" altLang="en-US" sz="1800" b="1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昂</a:t>
            </a:r>
            <a:endParaRPr lang="zh-CN" altLang="en-US" sz="1800" b="1" dirty="0">
              <a:solidFill>
                <a:srgbClr val="26323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3840480" y="21336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人工客服 24 小时轮班，人力成本占运营成本 30%+</a:t>
            </a:r>
            <a:endParaRPr lang="en-US" sz="14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457200" y="27965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</a:t>
            </a:r>
            <a:endParaRPr lang="en-US" sz="20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914400" y="27965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响应速度慢</a:t>
            </a:r>
            <a:endParaRPr lang="en-US" sz="18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3840480" y="27965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高峰期消息堆积，客户等待时间长，满意度下降</a:t>
            </a:r>
            <a:endParaRPr lang="en-US" sz="1400" dirty="0"/>
          </a:p>
        </p:txBody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457200" y="34442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</a:t>
            </a:r>
            <a:endParaRPr lang="en-US" sz="2000" dirty="0"/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914400" y="34442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数据孤岛</a:t>
            </a:r>
            <a:endParaRPr lang="en-US" sz="1800" dirty="0"/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3840480" y="34442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各平台客户数据不互通，无法形成统一用户画像</a:t>
            </a:r>
            <a:endParaRPr lang="en-US" sz="1400" dirty="0"/>
          </a:p>
        </p:txBody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457200" y="41300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</a:t>
            </a:r>
            <a:endParaRPr lang="en-US" sz="2000" dirty="0"/>
          </a:p>
        </p:txBody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914400" y="41300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售后处理低效</a:t>
            </a:r>
            <a:endParaRPr lang="en-US" sz="1800" dirty="0"/>
          </a:p>
        </p:txBody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3840480" y="41300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退换货、物流查询等重复性问题消耗大量人力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140" y="1219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解决方案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58140" y="8534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EAMS 提供全链路电商客服解决方案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8140" y="1493520"/>
            <a:ext cx="265176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9580" y="16764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多店铺统一管理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9580" y="2133600"/>
            <a:ext cx="24688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一个后台管理 32+ 平台店铺，统一收件箱聚合所有消息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84220" y="1493520"/>
            <a:ext cx="265176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75660" y="16764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智能客服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75660" y="2133600"/>
            <a:ext cx="24688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基于大模型的智能回复，自动处理 80% 常见问题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0300" y="1493520"/>
            <a:ext cx="265176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1740" y="16764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统一客户画像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1740" y="2133600"/>
            <a:ext cx="24688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跨平台识别同一客户，构建 360° 用户画像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8140" y="3322320"/>
            <a:ext cx="265176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580" y="35052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实时消息推送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9580" y="3962400"/>
            <a:ext cx="24688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WebSocket 实时通信，秒级响应客户咨询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84220" y="3322320"/>
            <a:ext cx="265176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5660" y="35052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智能知识库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75660" y="3962400"/>
            <a:ext cx="24688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检索增强，精准回答产品/订单/物流问题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0300" y="3322320"/>
            <a:ext cx="265176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1740" y="35052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数据智能分析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1740" y="3962400"/>
            <a:ext cx="24688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多维度数据统计，洞察客服质量和客户满意度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3726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多店铺管理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859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支持 32+ 电商平台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059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店铺维度数据隔离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259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统一登录，一键切换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460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可扩展架构，新平台自动接入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93726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智能客服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0" y="14859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9 种意图自动识别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8059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知识库智能检索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1259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上下文会话管理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4460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智能转人工判断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22326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统一收件箱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37719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多平台消息聚合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0919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店铺筛选标签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4119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三栏高效布局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7320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未读消息实时提醒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322326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用户端组件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37719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浮动聊天窗口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40919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店铺信息展示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44119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快捷问题推荐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7320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订单查询侧边栏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00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支持平台（</a:t>
            </a:r>
            <a:r>
              <a:rPr lang="zh-CN" altLang="en-US" sz="32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全球主流电商</a:t>
            </a:r>
            <a:r>
              <a:rPr lang="en-US" sz="32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32+</a:t>
            </a:r>
            <a:r>
              <a:rPr lang="zh-CN" altLang="en-US" sz="32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</a:t>
            </a:r>
            <a:r>
              <a:rPr lang="en-US" sz="32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E3F2FD"/>
          </a:solidFill>
        </p:spPr>
      </p:sp>
      <p:sp>
        <p:nvSpPr>
          <p:cNvPr id="4" name="Text 2"/>
          <p:cNvSpPr/>
          <p:nvPr/>
        </p:nvSpPr>
        <p:spPr>
          <a:xfrm>
            <a:off x="640080" y="96012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国内电商（7个）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淘宝、天猫、1688、京东、拼多多、抖店、小红书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914400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7" name="Text 5"/>
          <p:cNvSpPr/>
          <p:nvPr/>
        </p:nvSpPr>
        <p:spPr>
          <a:xfrm>
            <a:off x="640080" y="205740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跨境电商（15个）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Amazon、eBay、速卖通、Shopee、Lazada、Temu、TikTok Shop、SHEIN、Mercado Libre、Rakuten、Coupang、Ozon、Allegro、Joom、Wish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solidFill>
            <a:srgbClr val="FFF3E0"/>
          </a:solidFill>
        </p:spPr>
      </p:sp>
      <p:sp>
        <p:nvSpPr>
          <p:cNvPr id="10" name="Text 8"/>
          <p:cNvSpPr/>
          <p:nvPr/>
        </p:nvSpPr>
        <p:spPr>
          <a:xfrm>
            <a:off x="640080" y="315468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B2B平台（4个）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1688、Made-in-China、环球资源、敦煌网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8229600" cy="914400"/>
          </a:xfrm>
          <a:prstGeom prst="rect">
            <a:avLst/>
          </a:prstGeom>
          <a:solidFill>
            <a:srgbClr val="F3E5F5"/>
          </a:solidFill>
        </p:spPr>
      </p:sp>
      <p:sp>
        <p:nvSpPr>
          <p:cNvPr id="13" name="Text 11"/>
          <p:cNvSpPr/>
          <p:nvPr/>
        </p:nvSpPr>
        <p:spPr>
          <a:xfrm>
            <a:off x="640080" y="425196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独立站（4个）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Shopify、WooCommerce、BigCommerce、Magento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38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98220"/>
            <a:ext cx="8229600" cy="731520"/>
          </a:xfrm>
          <a:prstGeom prst="rect">
            <a:avLst/>
          </a:prstGeom>
          <a:solidFill>
            <a:srgbClr val="BBDEFB"/>
          </a:solidFill>
        </p:spPr>
      </p:sp>
      <p:sp>
        <p:nvSpPr>
          <p:cNvPr id="4" name="Text 2"/>
          <p:cNvSpPr/>
          <p:nvPr/>
        </p:nvSpPr>
        <p:spPr>
          <a:xfrm>
            <a:off x="640080" y="10896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122682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Vue3 + TypeScript | 响应式设计 | WebSocket客户端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12620"/>
            <a:ext cx="8229600" cy="731520"/>
          </a:xfrm>
          <a:prstGeom prst="rect">
            <a:avLst/>
          </a:prstGeom>
          <a:solidFill>
            <a:srgbClr val="C8E6C9"/>
          </a:solidFill>
        </p:spPr>
      </p:sp>
      <p:sp>
        <p:nvSpPr>
          <p:cNvPr id="7" name="Text 5"/>
          <p:cNvSpPr/>
          <p:nvPr/>
        </p:nvSpPr>
        <p:spPr>
          <a:xfrm>
            <a:off x="640080" y="20040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214122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FastAPI + Python | SQLAlchemy | 平台适配器架构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27020"/>
            <a:ext cx="8229600" cy="731520"/>
          </a:xfrm>
          <a:prstGeom prst="rect">
            <a:avLst/>
          </a:prstGeom>
          <a:solidFill>
            <a:srgbClr val="FFCCBC"/>
          </a:solidFill>
        </p:spPr>
      </p:sp>
      <p:sp>
        <p:nvSpPr>
          <p:cNvPr id="10" name="Text 8"/>
          <p:cNvSpPr/>
          <p:nvPr/>
        </p:nvSpPr>
        <p:spPr>
          <a:xfrm>
            <a:off x="640080" y="29184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305562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意图分类 | 知识库RAG | 大模型集成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41420"/>
            <a:ext cx="8229600" cy="731520"/>
          </a:xfrm>
          <a:prstGeom prst="rect">
            <a:avLst/>
          </a:prstGeom>
          <a:solidFill>
            <a:srgbClr val="E1BEE7"/>
          </a:solidFill>
        </p:spPr>
      </p:sp>
      <p:sp>
        <p:nvSpPr>
          <p:cNvPr id="13" name="Text 11"/>
          <p:cNvSpPr/>
          <p:nvPr/>
        </p:nvSpPr>
        <p:spPr>
          <a:xfrm>
            <a:off x="640080" y="38328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397002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PostgreSQL | Redis | 消息队列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558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可扩展架构：新增平台只需创建适配器文件，自动注册到系统，无需修改核心业务代码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商业模式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收入来源</a:t>
            </a:r>
            <a:endParaRPr lang="en-US" sz="200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SaaS 订阅：按店铺数量/消息量分级定价</a:t>
            </a:r>
            <a:endParaRPr lang="en-US" sz="1400" dirty="0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增值服务：定制开发、私有化部署</a:t>
            </a:r>
            <a:endParaRPr lang="en-US" sz="14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交易抽成：订单成交佣金（可选）</a:t>
            </a:r>
            <a:endParaRPr lang="en-US" sz="14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数据服务：行业报告、竞品分析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定价策略</a:t>
            </a:r>
            <a:endParaRPr lang="en-US" sz="20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4572000" y="19202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免费版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9202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¥0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0" y="19202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1店铺，基础功能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4572000" y="2560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2560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¥99/月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2560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5店铺，AI客服</a:t>
            </a:r>
            <a:endParaRPr lang="en-US" sz="1200" dirty="0"/>
          </a:p>
        </p:txBody>
      </p:sp>
      <p:sp>
        <p:nvSpPr>
          <p:cNvPr id="15" name="Text 13"/>
          <p:cNvSpPr/>
          <p:nvPr>
            <p:custDataLst>
              <p:tags r:id="rId7"/>
            </p:custDataLst>
          </p:nvPr>
        </p:nvSpPr>
        <p:spPr>
          <a:xfrm>
            <a:off x="4572000" y="32004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32004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¥299/月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0" y="32004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20店铺，全功能</a:t>
            </a:r>
            <a:endParaRPr lang="en-US" sz="1200" dirty="0"/>
          </a:p>
        </p:txBody>
      </p:sp>
      <p:sp>
        <p:nvSpPr>
          <p:cNvPr id="18" name="Text 16"/>
          <p:cNvSpPr/>
          <p:nvPr>
            <p:custDataLst>
              <p:tags r:id="rId8"/>
            </p:custDataLst>
          </p:nvPr>
        </p:nvSpPr>
        <p:spPr>
          <a:xfrm>
            <a:off x="4572000" y="38404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38404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38404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无限店铺，私有化</a:t>
            </a:r>
            <a:endParaRPr lang="en-US" sz="1200" dirty="0"/>
          </a:p>
        </p:txBody>
      </p:sp>
      <p:sp>
        <p:nvSpPr>
          <p:cNvPr id="21" name="Text 5"/>
          <p:cNvSpPr/>
          <p:nvPr>
            <p:custDataLst>
              <p:tags r:id="rId9"/>
            </p:custDataLst>
          </p:nvPr>
        </p:nvSpPr>
        <p:spPr>
          <a:xfrm>
            <a:off x="462280" y="34036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</a:t>
            </a:r>
            <a:r>
              <a:rPr lang="zh-CN" alt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算力</a:t>
            </a: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服务：</a:t>
            </a:r>
            <a:r>
              <a:rPr lang="zh-CN" alt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集成全球主流</a:t>
            </a:r>
            <a:r>
              <a:rPr lang="en-US" altLang="zh-CN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  <a:r>
              <a:rPr lang="zh-CN" alt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大模型，按需充值消费</a:t>
            </a:r>
            <a:endParaRPr lang="zh-CN" altLang="en-US" sz="1400" dirty="0">
              <a:solidFill>
                <a:srgbClr val="26323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市场分析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市场规模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中国电商客服市场规模：500亿+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智能客服渗透率：&lt; 15%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年复合增长率：25%+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目标用户：1000万+ 电商商家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竞争优势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多平台覆盖最全（32+平台）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2860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可扩展架构，快速接入新平台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 + 人工协同，效率最大化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跨平台用户识别，数据价值高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竞品对比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美洽、智齿客服：专注单平台，多平台支持弱  |  晓多、乐言：淘宝生态，跨平台能力差  |  EAMS：真正的全平台解决方案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融资需求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0" cy="137160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4" name="Text 2"/>
          <p:cNvSpPr/>
          <p:nvPr/>
        </p:nvSpPr>
        <p:spPr>
          <a:xfrm>
            <a:off x="640080" y="128016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Pre-A轮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200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¥500万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资金用途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6459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产品研发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64592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0" y="16459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平台适配器开发、AI模型优化</a:t>
            </a:r>
            <a:r>
              <a:rPr lang="zh-CN" altLang="en-US" sz="10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、算力资源乐优配</a:t>
            </a:r>
            <a:endParaRPr lang="zh-CN" altLang="en-US" sz="1000" dirty="0">
              <a:solidFill>
                <a:srgbClr val="7890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0" y="21945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市场推广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19456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2194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获客、品牌建设</a:t>
            </a:r>
            <a:r>
              <a:rPr lang="zh-CN" altLang="en-US" sz="10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、招募服务商</a:t>
            </a:r>
            <a:endParaRPr lang="zh-CN" altLang="en-US" sz="1000" dirty="0">
              <a:solidFill>
                <a:srgbClr val="7890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团队建设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274320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27432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核心人才招聘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32918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运营储备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32918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32918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日常运营资金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6441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里程碑目标（12个月）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31927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接入 32+ 主流电商平台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5585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服务 10000+ 商家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9243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月 GMV 突破 100 </a:t>
            </a:r>
            <a:r>
              <a:rPr lang="zh-CN" alt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万</a:t>
            </a:r>
            <a:endParaRPr lang="zh-CN" altLang="en-US" sz="1400" dirty="0">
              <a:solidFill>
                <a:srgbClr val="26323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42900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团队规模 20+ 人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91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感谢关注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564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期待与您合作，共创电商智能客服新未来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0708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联系方式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6195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邮箱：qq@595jn.com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8,&quot;left&quot;:36,&quot;top&quot;:108,&quot;width&quot;:626.4}"/>
</p:tagLst>
</file>

<file path=ppt/tags/tag2.xml><?xml version="1.0" encoding="utf-8"?>
<p:tagLst xmlns:p="http://schemas.openxmlformats.org/presentationml/2006/main">
  <p:tag name="KSO_WM_DIAGRAM_VIRTUALLY_FRAME" val="{&quot;height&quot;:288,&quot;left&quot;:36,&quot;top&quot;:108,&quot;width&quot;:626.4}"/>
</p:tagLst>
</file>

<file path=ppt/tags/tag3.xml><?xml version="1.0" encoding="utf-8"?>
<p:tagLst xmlns:p="http://schemas.openxmlformats.org/presentationml/2006/main">
  <p:tag name="KSO_WM_DIAGRAM_VIRTUALLY_FRAME" val="{&quot;height&quot;:288,&quot;left&quot;:36,&quot;top&quot;:108,&quot;width&quot;:626.4}"/>
</p:tagLst>
</file>

<file path=ppt/tags/tag4.xml><?xml version="1.0" encoding="utf-8"?>
<p:tagLst xmlns:p="http://schemas.openxmlformats.org/presentationml/2006/main">
  <p:tag name="KSO_WM_DIAGRAM_VIRTUALLY_FRAME" val="{&quot;height&quot;:288,&quot;left&quot;:36,&quot;top&quot;:108,&quot;width&quot;:626.4}"/>
</p:tagLst>
</file>

<file path=ppt/tags/tag5.xml><?xml version="1.0" encoding="utf-8"?>
<p:tagLst xmlns:p="http://schemas.openxmlformats.org/presentationml/2006/main">
  <p:tag name="KSO_WM_DIAGRAM_VIRTUALLY_FRAME" val="{&quot;height&quot;:288,&quot;left&quot;:36,&quot;top&quot;:108,&quot;width&quot;:626.4}"/>
</p:tagLst>
</file>

<file path=ppt/tags/tag6.xml><?xml version="1.0" encoding="utf-8"?>
<p:tagLst xmlns:p="http://schemas.openxmlformats.org/presentationml/2006/main">
  <p:tag name="KSO_WM_DIAGRAM_VIRTUALLY_FRAME" val="{&quot;height&quot;:288,&quot;left&quot;:36,&quot;top&quot;:108,&quot;width&quot;:626.4}"/>
</p:tagLst>
</file>

<file path=ppt/tags/tag7.xml><?xml version="1.0" encoding="utf-8"?>
<p:tagLst xmlns:p="http://schemas.openxmlformats.org/presentationml/2006/main">
  <p:tag name="KSO_WM_DIAGRAM_VIRTUALLY_FRAME" val="{&quot;height&quot;:288,&quot;left&quot;:36,&quot;top&quot;:108,&quot;width&quot;:626.4}"/>
</p:tagLst>
</file>

<file path=ppt/tags/tag8.xml><?xml version="1.0" encoding="utf-8"?>
<p:tagLst xmlns:p="http://schemas.openxmlformats.org/presentationml/2006/main">
  <p:tag name="KSO_WM_DIAGRAM_VIRTUALLY_FRAME" val="{&quot;height&quot;:288,&quot;left&quot;:36,&quot;top&quot;:108,&quot;width&quot;:626.4}"/>
</p:tagLst>
</file>

<file path=ppt/tags/tag9.xml><?xml version="1.0" encoding="utf-8"?>
<p:tagLst xmlns:p="http://schemas.openxmlformats.org/presentationml/2006/main">
  <p:tag name="KSO_WM_DIAGRAM_VIRTUALLY_FRAME" val="{&quot;height&quot;:288,&quot;left&quot;:36,&quot;top&quot;:108,&quot;width&quot;:626.4}"/>
</p:tagLst>
</file>

<file path=ppt/tags/tag10.xml><?xml version="1.0" encoding="utf-8"?>
<p:tagLst xmlns:p="http://schemas.openxmlformats.org/presentationml/2006/main">
  <p:tag name="KSO_WM_DIAGRAM_VIRTUALLY_FRAME" val="{&quot;height&quot;:288,&quot;left&quot;:36,&quot;top&quot;:108,&quot;width&quot;:626.4}"/>
</p:tagLst>
</file>

<file path=ppt/tags/tag11.xml><?xml version="1.0" encoding="utf-8"?>
<p:tagLst xmlns:p="http://schemas.openxmlformats.org/presentationml/2006/main">
  <p:tag name="KSO_WM_DIAGRAM_VIRTUALLY_FRAME" val="{&quot;height&quot;:288,&quot;left&quot;:36,&quot;top&quot;:108,&quot;width&quot;:626.4}"/>
</p:tagLst>
</file>

<file path=ppt/tags/tag12.xml><?xml version="1.0" encoding="utf-8"?>
<p:tagLst xmlns:p="http://schemas.openxmlformats.org/presentationml/2006/main">
  <p:tag name="KSO_WM_DIAGRAM_VIRTUALLY_FRAME" val="{&quot;height&quot;:288,&quot;left&quot;:36,&quot;top&quot;:108,&quot;width&quot;:626.4}"/>
</p:tagLst>
</file>

<file path=ppt/tags/tag13.xml><?xml version="1.0" encoding="utf-8"?>
<p:tagLst xmlns:p="http://schemas.openxmlformats.org/presentationml/2006/main">
  <p:tag name="KSO_WM_DIAGRAM_VIRTUALLY_FRAME" val="{&quot;height&quot;:288,&quot;left&quot;:36,&quot;top&quot;:108,&quot;width&quot;:626.4}"/>
</p:tagLst>
</file>

<file path=ppt/tags/tag14.xml><?xml version="1.0" encoding="utf-8"?>
<p:tagLst xmlns:p="http://schemas.openxmlformats.org/presentationml/2006/main">
  <p:tag name="KSO_WM_DIAGRAM_VIRTUALLY_FRAME" val="{&quot;height&quot;:288,&quot;left&quot;:36,&quot;top&quot;:108,&quot;width&quot;:626.4}"/>
</p:tagLst>
</file>

<file path=ppt/tags/tag15.xml><?xml version="1.0" encoding="utf-8"?>
<p:tagLst xmlns:p="http://schemas.openxmlformats.org/presentationml/2006/main">
  <p:tag name="KSO_WM_DIAGRAM_VIRTUALLY_FRAME" val="{&quot;height&quot;:288,&quot;left&quot;:36,&quot;top&quot;:108,&quot;width&quot;:626.4}"/>
</p:tagLst>
</file>

<file path=ppt/tags/tag16.xml><?xml version="1.0" encoding="utf-8"?>
<p:tagLst xmlns:p="http://schemas.openxmlformats.org/presentationml/2006/main">
  <p:tag name="KSO_WM_DIAGRAM_VIRTUALLY_FRAME" val="{&quot;height&quot;:172.8,&quot;left&quot;:36,&quot;top&quot;:151.2,&quot;width&quot;:432}"/>
</p:tagLst>
</file>

<file path=ppt/tags/tag17.xml><?xml version="1.0" encoding="utf-8"?>
<p:tagLst xmlns:p="http://schemas.openxmlformats.org/presentationml/2006/main">
  <p:tag name="KSO_WM_DIAGRAM_VIRTUALLY_FRAME" val="{&quot;height&quot;:172.8,&quot;left&quot;:36,&quot;top&quot;:151.2,&quot;width&quot;:432}"/>
</p:tagLst>
</file>

<file path=ppt/tags/tag18.xml><?xml version="1.0" encoding="utf-8"?>
<p:tagLst xmlns:p="http://schemas.openxmlformats.org/presentationml/2006/main">
  <p:tag name="KSO_WM_DIAGRAM_VIRTUALLY_FRAME" val="{&quot;height&quot;:172.8,&quot;left&quot;:36,&quot;top&quot;:151.2,&quot;width&quot;:432}"/>
</p:tagLst>
</file>

<file path=ppt/tags/tag19.xml><?xml version="1.0" encoding="utf-8"?>
<p:tagLst xmlns:p="http://schemas.openxmlformats.org/presentationml/2006/main">
  <p:tag name="KSO_WM_DIAGRAM_VIRTUALLY_FRAME" val="{&quot;height&quot;:172.8,&quot;left&quot;:36,&quot;top&quot;:151.2,&quot;width&quot;:432}"/>
</p:tagLst>
</file>

<file path=ppt/tags/tag20.xml><?xml version="1.0" encoding="utf-8"?>
<p:tagLst xmlns:p="http://schemas.openxmlformats.org/presentationml/2006/main">
  <p:tag name="KSO_WM_DIAGRAM_VIRTUALLY_FRAME" val="{&quot;height&quot;:172.8,&quot;left&quot;:36,&quot;top&quot;:151.2,&quot;width&quot;:432}"/>
</p:tagLst>
</file>

<file path=ppt/tags/tag21.xml><?xml version="1.0" encoding="utf-8"?>
<p:tagLst xmlns:p="http://schemas.openxmlformats.org/presentationml/2006/main">
  <p:tag name="KSO_WM_DIAGRAM_VIRTUALLY_FRAME" val="{&quot;height&quot;:172.8,&quot;left&quot;:36,&quot;top&quot;:151.2,&quot;width&quot;:432}"/>
</p:tagLst>
</file>

<file path=ppt/tags/tag22.xml><?xml version="1.0" encoding="utf-8"?>
<p:tagLst xmlns:p="http://schemas.openxmlformats.org/presentationml/2006/main">
  <p:tag name="KSO_WM_DIAGRAM_VIRTUALLY_FRAME" val="{&quot;height&quot;:172.8,&quot;left&quot;:36,&quot;top&quot;:151.2,&quot;width&quot;:432}"/>
</p:tagLst>
</file>

<file path=ppt/tags/tag23.xml><?xml version="1.0" encoding="utf-8"?>
<p:tagLst xmlns:p="http://schemas.openxmlformats.org/presentationml/2006/main">
  <p:tag name="KSO_WM_DIAGRAM_VIRTUALLY_FRAME" val="{&quot;height&quot;:172.8,&quot;left&quot;:36,&quot;top&quot;:151.2,&quot;width&quot;:432}"/>
</p:tagLst>
</file>

<file path=ppt/tags/tag24.xml><?xml version="1.0" encoding="utf-8"?>
<p:tagLst xmlns:p="http://schemas.openxmlformats.org/presentationml/2006/main">
  <p:tag name="KSO_WM_DIAGRAM_VIRTUALLY_FRAME" val="{&quot;height&quot;:172.8,&quot;left&quot;:36,&quot;top&quot;:151.2,&quot;width&quot;:43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1798</Words>
  <Application>WPS 演示</Application>
  <PresentationFormat>On-screen Show (16:9)</PresentationFormat>
  <Paragraphs>280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EAMS - 电商智能客服系统</dc:title>
  <dc:creator>EAMS Team</dc:creator>
  <dc:subject>产品推介与投资合作</dc:subject>
  <cp:lastModifiedBy>黄秋强</cp:lastModifiedBy>
  <cp:revision>2</cp:revision>
  <dcterms:created xsi:type="dcterms:W3CDTF">2026-03-29T06:15:00Z</dcterms:created>
  <dcterms:modified xsi:type="dcterms:W3CDTF">2026-03-29T06:52:13Z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6EE32D51DE66417588193B9620BD0AE7_12</vt:lpwstr>
  </property>
</Properties>
</file>